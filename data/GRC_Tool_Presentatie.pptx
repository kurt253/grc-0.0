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4124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D2C6B"/>
                </a:solidFill>
              </a:rPr>
              <a:t>GRC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D4ED8"/>
                </a:solidFill>
              </a:rPr>
              <a:t>Informatieveiligheid voor Overheidsdiensten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Governance  |  Risicobeheer  | 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CyFun 2025  |  NIS2-conformiteit  |  Belgische overheid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v0.3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Inhoud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Overzicht van de presentatie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205740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Architectuur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Doel, technologiestack, dataflow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23444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23444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Excel-werkboek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Sheets, VBA-macro's, CIA-model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123444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23444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5740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Configuratie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Taal, versie, assurance niveau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016" y="123444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72016" y="123444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05740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Processen &amp;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19202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Processen, IA, afhankelijke assets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6616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56616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43891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49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Maatregelen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51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CyFun controls + risicobeheerplan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56616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56616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43891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2" y="3749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Controles &amp; Acties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2" y="4251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Periodieke controles, actiebeheer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356616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784" y="356616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3891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3749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Kwetsbaarheden &amp;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4251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RARM-matrix, KPI-overzicht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72016" y="3566160"/>
            <a:ext cx="283464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72016" y="3566160"/>
            <a:ext cx="457200" cy="2148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43891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0656" y="3749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C6B"/>
                </a:solidFill>
              </a:rPr>
              <a:t>Werkproces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0656" y="4251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End-to-end van Access naar rapport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Hoe werkt de GRC Tool?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Access-database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82496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82496"/>
            <a:ext cx="54864" cy="69494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928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MNMTool brondata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50592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0592"/>
            <a:ext cx="54864" cy="69494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609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Processen en 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18688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218688"/>
            <a:ext cx="54864" cy="69494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4290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Kwetsbaarheden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86784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86784"/>
            <a:ext cx="54864" cy="69494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1-klik import via VBA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54880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754880"/>
            <a:ext cx="54864" cy="69494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651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ACE/Jet ADODB-connectie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1188720"/>
            <a:ext cx="3749039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Excel-werkboek (.xlsm)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682496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1682496"/>
            <a:ext cx="54864" cy="6949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19" y="18928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Centrale datakern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2450592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2450592"/>
            <a:ext cx="54864" cy="6949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19" y="26609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VBA-macro's (GRC_Macros)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218688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218688"/>
            <a:ext cx="54864" cy="6949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19" y="34290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CyFun 2025 ingebouwd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3986784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59" y="3986784"/>
            <a:ext cx="54864" cy="6949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19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CIA-model per 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54880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59" y="4754880"/>
            <a:ext cx="54864" cy="6949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19" y="49651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RARM-kwetsbaarhedenmatrix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598" y="1188720"/>
            <a:ext cx="3749039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8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Streamlit-dashboard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8" y="1682496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598" y="1682496"/>
            <a:ext cx="54864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58" y="18928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Leest en schrijft xlsm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2450592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598" y="2450592"/>
            <a:ext cx="54864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58" y="26609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8 functionele pagina's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598" y="3218688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598" y="3218688"/>
            <a:ext cx="54864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58" y="34290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Risicobeheerplan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598" y="3986784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598" y="3986784"/>
            <a:ext cx="54864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58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Assurance-level filter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598" y="4754880"/>
            <a:ext cx="3749039" cy="6949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9598" y="4754880"/>
            <a:ext cx="54864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58" y="49651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Periodieke controles &amp; acties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96512" y="35661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&lt;  Import  &gt;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35661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</a:rPr>
              <a:t>&lt;  Lezen/Schrijven 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Excel-werkboek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GRC_Tool.xlsm — overzicht van alle tabbladen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34440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243584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Organisatienaam, taal, versie, assurance niveau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34440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243584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Gebruikershandleiding en snelkoppelingen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161848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Processes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627632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Bedrijfsprocessen met CIA-classificatie (I en 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72768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1848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Information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27632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Informatieassets met vertrouwelijkheidsniveau (C)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56816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20025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Dependent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011680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Afhankelijke assets + CIA-vereisten &amp; objectieven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56816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0025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011680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Risk Assessment &amp; Remediation Matrix per 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40864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2386584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Responsible Persons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395728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Verantwoordelijken per domein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340864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386584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Import &amp;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395728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VBA-knoppen voor Access-import en export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24912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277063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CyFun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779776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Alle CyFun 2025 controls (Basic/Important/Essential)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724912"/>
            <a:ext cx="1828800" cy="32004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277063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Kwetsbaarheden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779776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Kwetsbaarhedenmatrix per afhankelijke asset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108960"/>
            <a:ext cx="18288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3154680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Risicobeheer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163824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Risicobeheerplan: status per maatregel per 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16382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</a:rPr>
              <a:t>NIEUW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316382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Risicobeheerplan: status per maatregel per 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108960"/>
            <a:ext cx="18288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3154680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Controles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163824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Periodieke controlesschema's per 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163824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</a:rPr>
              <a:t>NIEUW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3163824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Periodieke controlesschema's per 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493008"/>
            <a:ext cx="18288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" y="3538728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Acties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3547872"/>
            <a:ext cx="3703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Actielijst met opvolging en vervaldatums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547872"/>
            <a:ext cx="548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</a:rPr>
              <a:t>NIEUW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8920" y="3547872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Actielijst met opvolging en vervaldatums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Excel — Config-tabblad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Instellingen, assurance niveau en snelkoppelingen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xl_01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1416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63440" y="1143000"/>
            <a:ext cx="726948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234440"/>
            <a:ext cx="7086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Velden in Config-tabblad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90472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Naam overheidsinstelling en dienst/entiteit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46504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Taalinstelling: NL / FR / 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02536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Dropdowns wisselen automatisch bij taalwijziging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58568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Versie, laatste update, bijgewerkt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14600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Assurance niveau: Basic / Important / Essential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70632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Tip-sectie en snelkoppelingen naar alle tabs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Excel — Import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VBA-macro's voor gegevensimport vanuit Access-database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xl_10_import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2895178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97680" y="1143000"/>
            <a:ext cx="75895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3444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Importacties (VBA-macro's)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90472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Importeer Alles: volledige dataset in 1 klik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46504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Importeer Informatieassets (T-Information Assets)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02536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Importeer Afhankelijke Assets + CIA-objectieven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58568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Importeer Processen + asset-koppelingen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14600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Importeer Kwetsbaarheden (vult RARM-matrix)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70632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Import Links DA/Kwetsbaarheden (na kwetsbaarheden)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26664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Tabelstructuur-referentie voor Access-ontwerpers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Configuratie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Assurance niveau instellen vanuit de Streamlit-app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2_configura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772400" cy="4857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143000"/>
            <a:ext cx="370332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344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Functionaliteit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49047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Toont Config-velden rechtstreeks uit xlsm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46504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Assurance niveau is verplicht in te stellen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Rode waarschuwing als niveau niet is ingesteld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5856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Opslaan schrijft naar Config!D19 in xlsm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1460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Versie- en tijdstempelinfo weergegeven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7063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Maatregelen-pagina geblokkeerd zonder assurance niveau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Realtime KPI-overzicht en voortgang gegenereerd uit de xlsm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046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66760" y="1143000"/>
            <a:ext cx="361188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34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KPI-overzicht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9 processen | 8 informatieassets | 18 afhankelijke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37 kwetsbaarheden | 34 controls (Basic-niveau)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025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Taartdiagram: status risicobeheerplan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585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Staafdiagram: controls per DA (assurance-gefilterd)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Voortgangsbalk: uitgevoerde maatregelen per 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Open acties-tabel met vervaldatum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Processen &amp;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Drie tabbladen: Processen | Informatieassets | Afhankelijke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3749039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Processen</a:t>
            </a:r>
          </a:p>
        </p:txBody>
      </p:sp>
      <p:pic>
        <p:nvPicPr>
          <p:cNvPr id="10" name="Picture 9" descr="03_processen_t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35608"/>
            <a:ext cx="3749039" cy="23431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" y="4754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CIA-labels (Laag/Gemiddeld/...) ipv nummers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1" y="1143000"/>
            <a:ext cx="3749039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1" y="1161288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Informatieassets</a:t>
            </a:r>
          </a:p>
        </p:txBody>
      </p:sp>
      <p:pic>
        <p:nvPicPr>
          <p:cNvPr id="14" name="Picture 13" descr="04_processen_t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1" y="1435608"/>
            <a:ext cx="3749039" cy="23431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33671" y="4754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Vertrouwelijkheidsniveau als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2" y="1143000"/>
            <a:ext cx="3749039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2" y="1161288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Afhankelijke Assets</a:t>
            </a:r>
          </a:p>
        </p:txBody>
      </p:sp>
      <p:pic>
        <p:nvPicPr>
          <p:cNvPr id="18" name="Picture 17" descr="05_processen_ta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2" y="1435608"/>
            <a:ext cx="3749039" cy="23431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8742" y="4754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CIA vereist vs. objectief + commentaar bewerkbaar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Maatregelen &amp; Risicobeheerplan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CyFun controls gefilterd op assurance niveau | CIA-gat detectie | Status per 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6_maatrege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046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66760" y="1143000"/>
            <a:ext cx="361188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34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Functionaliteit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Filter: Basic / Basic+Important / alle niveaus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Per DA: CIA vereist vs. objectief (editeerbaar 1-5)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025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Automatische CIA-gat detectie + waarschuwing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585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Status: Uitgevoerd / Gepland / Niet uitvoeren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Datum, verantwoordelijke en opmerkingen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Voortgangsbalk per 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26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Opslaan: Risicobeheer-sheet + DA CIA-objectieven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Periodieke Controles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Controlesschema per afhankelijke asset | Auto-actie bij uitvoering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7_periodieke_cont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046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66760" y="1143000"/>
            <a:ext cx="361188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34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Functionaliteit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Tabs per afhankelijke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Frequentie: Maandelijks / Kwartaal / Jaarlijks / Ad hoc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025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Controlemethode en artefactenlocatie vastleggen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585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Laatste en volgende controledatum auto-berekend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'Controle uitvoeren' maakt automatisch actie 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Status: OK / Te controleren / Vervallen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26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Opslaan schrijft naar Controles-sheet in xlsm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Actiebeheer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Gecentraliseerde actielijst met opvolging en rapportage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8_ac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046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66760" y="1143000"/>
            <a:ext cx="361188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34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Functionaliteit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KPI-balk: Open | In uitvoering | Gesloten | Vervallen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Filter op status, DA, type en vervaldatum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025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Actietypes: Periodieke controle / Maatregel / Opvolging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585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Status inline bewerkbaar in tabel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Nieuwe actie aanmaken via formulier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Auto-increment ID: A-001, A-002,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26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Opslaan schrijft naar Acties-sheet in xlsm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— Kwetsbaarheden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Kwetsbaarhedenmatrix en koppeling aan CyFun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pic>
        <p:nvPicPr>
          <p:cNvPr id="8" name="Picture 7" descr="09_kwetsbaarhe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04672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66760" y="1143000"/>
            <a:ext cx="36118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34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</a:rPr>
              <a:t>Functionaliteit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Kwetsbaarheden geimporteerd via VBA-macro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Matrix: koppeling kwetsbaarheid - CyFun control per 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0253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Gefilterd op assurance niveau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585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Inzicht in risico's per afhankelijke 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  Basis voor risicobeheerplan en acties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CIA-model &amp; Assurance Niveaus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Classificatiemodel conform CyFun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49039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475488" cy="1600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310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3258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Vertrouwelijkheid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09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Vereist: Max. van gekoppelde informatieassets (IA)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Objectief: instelbaar in xlsm en 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475488" cy="160020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554480"/>
            <a:ext cx="310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7" y="13258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C6B"/>
                </a:solidFill>
              </a:rPr>
              <a:t>Integriteit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7" y="1709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Vereist: Max. van gekoppelde bedrijfsprocessen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7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Objectief: instelbaar in xlsm en Streamlit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1234440"/>
            <a:ext cx="3749039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8" y="1234440"/>
            <a:ext cx="475488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8" y="1554480"/>
            <a:ext cx="31089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6" y="13258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Beschikbaarheid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6" y="1709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Vereist: Max. van gekoppelde bedrijfsprocessen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6" y="20116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Objectief: instelbaar in xlsm en 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063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C6B"/>
                </a:solidFill>
              </a:rPr>
              <a:t>Classificatieschaal: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01568"/>
            <a:ext cx="2148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4472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 Laag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3401568"/>
            <a:ext cx="2148840" cy="3657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34472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 Gemiddeld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3401568"/>
            <a:ext cx="214884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34472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 Hoog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01568"/>
            <a:ext cx="2148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4472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 Zeer Hoog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401568"/>
            <a:ext cx="21488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34472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 Kritiek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950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C6B"/>
                </a:solidFill>
              </a:rPr>
              <a:t>Assurance-filter logica: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97680"/>
            <a:ext cx="3749039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297680"/>
            <a:ext cx="3749039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3159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663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Toont enkel Basic controls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4297680"/>
            <a:ext cx="3749039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4297680"/>
            <a:ext cx="3749039" cy="329184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399" y="43159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Important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399" y="4663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Toont Basic + Important controls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8" y="4297680"/>
            <a:ext cx="3749039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598" y="4297680"/>
            <a:ext cx="3749039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38" y="43159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Essential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38" y="4663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Toont Basic + Important + Essential controls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Werkproces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3F8"/>
                </a:solidFill>
              </a:rPr>
              <a:t>Van Access-database tot risicobeheerplan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AD3F8"/>
                </a:solidFill>
              </a:rPr>
              <a:t>GRC Tool  |  Informatieveiligheid voor Overheidsdiensten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1572768" cy="2103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Access DB
Voorbereiden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Vul processen, assets en kwetsbaarheden in de MNMTool-database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1234440"/>
            <a:ext cx="1572768" cy="210312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Importeer
via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Klik 'Importeer Alles' op Import &amp; Export-tab in Excel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234440"/>
            <a:ext cx="1572768" cy="2103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Config
Instellen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Stel assurance niveau in via Streamlit of Config-tab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1234440"/>
            <a:ext cx="1572768" cy="210312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RARM
Bekijken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RARM-tab synchroniseert DA-kolommen automatisch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1234440"/>
            <a:ext cx="1572768" cy="2103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Maatregelen
Opvolgen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Status per control in Streamlit: Uitgevoerd/Gepland/Niet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1234440"/>
            <a:ext cx="1572768" cy="210312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Controles
Plannen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192024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Schema instellen per DA: frequentie, methode, artefacten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1234440"/>
            <a:ext cx="1572768" cy="2103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12984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1664208"/>
            <a:ext cx="1435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Acties
Opvolgen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493008"/>
            <a:ext cx="157276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</a:rPr>
              <a:t>Werk acties bij; alles opgeslagen in xlsm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074920"/>
            <a:ext cx="117500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5166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Alle wijzigingen worden rechtstreeks weggeschreven naar GRC_Tool.xlsm (keep_vba=True) — macro's blijven intact.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11247120" cy="2926080"/>
          </a:xfrm>
          <a:prstGeom prst="rect">
            <a:avLst/>
          </a:prstGeom>
          <a:solidFill>
            <a:srgbClr val="13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GRC Tool v0.3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D3F8"/>
                </a:solidFill>
              </a:rPr>
              <a:t>Informatieveiligheid voor Overheidsdiensten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CyFun 2025  |  NIS2  |  Excel + Streamlit  |  Belgische overheid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