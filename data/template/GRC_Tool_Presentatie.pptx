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B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406640" y="0"/>
            <a:ext cx="4782312" cy="6858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78040" y="0"/>
            <a:ext cx="256032" cy="6858000"/>
          </a:xfrm>
          <a:prstGeom prst="rect">
            <a:avLst/>
          </a:prstGeom>
          <a:solidFill>
            <a:srgbClr val="D0D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6400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GRC 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D0DCF3"/>
                </a:solidFill>
              </a:rPr>
              <a:t>v0.3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17520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Gebruikerstraining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0332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0DCF3"/>
                </a:solidFill>
              </a:rPr>
              <a:t>Stap-voor-stap handleiding voor het importeren
en beheren van GRC-data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11887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Inhoud van deze 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1691640"/>
            <a:ext cx="4206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›  Opstarten &amp; configuratie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2240280"/>
            <a:ext cx="4206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›  Sheets en navigatie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2788920"/>
            <a:ext cx="4206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›  Kwetsbaarheden importeren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3337560"/>
            <a:ext cx="4206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›  RARM lezen en invullen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3886200"/>
            <a:ext cx="4206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›  Links DA/Kwetsbaarheden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4434840"/>
            <a:ext cx="4206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›  Rapportage &amp; afwijkingen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4983479"/>
            <a:ext cx="4206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›  Tips, valkuilen &amp; veelgestelde vragen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2179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0DCF3"/>
                </a:solidFill>
              </a:rPr>
              <a:t>NIS2  ·  GDPR  ·  ISO 27001:2022  ·  BIO  ·  CyFun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137160"/>
            <a:ext cx="777240" cy="7772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777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3474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CF3"/>
                </a:solidFill>
              </a:rPr>
              <a:t>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9144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Overzicht van de tool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658368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0DCF3"/>
                </a:solidFill>
              </a:rPr>
              <a:t>Alle tabbladen in GRC_Tool.xlsm en hun functie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F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10528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0DCF3"/>
                </a:solidFill>
              </a:rPr>
              <a:t>GRC Tool v0.3  ·  Trainingsdocument  ·  Belgische Overheid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234440"/>
            <a:ext cx="137160" cy="1005840"/>
          </a:xfrm>
          <a:prstGeom prst="rect">
            <a:avLst/>
          </a:prstGeom>
          <a:solidFill>
            <a:srgbClr val="1F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28016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2C2C"/>
                </a:solidFill>
              </a:rPr>
              <a:t>Config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64592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A5A5A"/>
                </a:solidFill>
              </a:rPr>
              <a:t>Taal instellen (NL/FR/EN), organisatienaam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6120" y="1234440"/>
            <a:ext cx="137160" cy="1005840"/>
          </a:xfrm>
          <a:prstGeom prst="rect">
            <a:avLst/>
          </a:prstGeom>
          <a:solidFill>
            <a:srgbClr val="1F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128016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2C2C"/>
                </a:solidFill>
              </a:rPr>
              <a:t>Info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164592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A5A5A"/>
                </a:solidFill>
              </a:rPr>
              <a:t>Introductie, kaders en gebruiksaanwijzing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234440"/>
            <a:ext cx="137160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28016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2C2C"/>
                </a:solidFill>
              </a:rPr>
              <a:t>Processen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164592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A5A5A"/>
                </a:solidFill>
              </a:rPr>
              <a:t>Bedrijfsprocessen + CIA-classificatie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89720" y="1234440"/>
            <a:ext cx="137160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28016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2C2C"/>
                </a:solidFill>
              </a:rPr>
              <a:t>Informatieassets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164592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A5A5A"/>
                </a:solidFill>
              </a:rPr>
              <a:t>Informatieassets + vertrouwelijkheidsniveau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560320"/>
            <a:ext cx="137160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2606039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2C2C"/>
                </a:solidFill>
              </a:rPr>
              <a:t>Dependent Assets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297180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A5A5A"/>
                </a:solidFill>
              </a:rPr>
              <a:t>Technische assets — basis voor RARM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46120" y="2560320"/>
            <a:ext cx="137160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0" y="2606039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2C2C"/>
                </a:solidFill>
              </a:rPr>
              <a:t>Verantwoordelijken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297180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A5A5A"/>
                </a:solidFill>
              </a:rPr>
              <a:t>Contactregister GRC-verantwoordelijken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2560320"/>
            <a:ext cx="137160" cy="1005840"/>
          </a:xfrm>
          <a:prstGeom prst="rect">
            <a:avLst/>
          </a:prstGeom>
          <a:solidFill>
            <a:srgbClr val="1E8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2606039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2C2C"/>
                </a:solidFill>
              </a:rPr>
              <a:t>Import &amp; Export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297180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A5A5A"/>
                </a:solidFill>
              </a:rPr>
              <a:t>Centrale pagina met alle importknoppen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89720" y="2560320"/>
            <a:ext cx="137160" cy="1005840"/>
          </a:xfrm>
          <a:prstGeom prst="rect">
            <a:avLst/>
          </a:prstGeom>
          <a:solidFill>
            <a:srgbClr val="1E8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2606039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2C2C"/>
                </a:solidFill>
              </a:rPr>
              <a:t>CyFun Controls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20" y="297180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A5A5A"/>
                </a:solidFill>
              </a:rPr>
              <a:t>218 controls + mapping 2023↔2025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886200"/>
            <a:ext cx="137160" cy="1005840"/>
          </a:xfrm>
          <a:prstGeom prst="rect">
            <a:avLst/>
          </a:prstGeom>
          <a:solidFill>
            <a:srgbClr val="1E8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393192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2C2C"/>
                </a:solidFill>
              </a:rPr>
              <a:t>Kwetsbaarheden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429768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A5A5A"/>
                </a:solidFill>
              </a:rPr>
              <a:t>Matrix: kwetsbaarheden × controls (CIA + ✔)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46120" y="3886200"/>
            <a:ext cx="137160" cy="1005840"/>
          </a:xfrm>
          <a:prstGeom prst="rect">
            <a:avLst/>
          </a:prstGeom>
          <a:solidFill>
            <a:srgbClr val="1E8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74720" y="393192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2C2C"/>
                </a:solidFill>
              </a:rPr>
              <a:t>RARM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74720" y="429768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A5A5A"/>
                </a:solidFill>
              </a:rPr>
              <a:t>Risicomatrix per afhankelijke asset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3886200"/>
            <a:ext cx="137160" cy="1005840"/>
          </a:xfrm>
          <a:prstGeom prst="rect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6520" y="393192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2C2C"/>
                </a:solidFill>
              </a:rPr>
              <a:t>Referentiewaarden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429768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A5A5A"/>
                </a:solidFill>
              </a:rPr>
              <a:t>Definities van de 5 classificatieniveaus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89720" y="3886200"/>
            <a:ext cx="137160" cy="1005840"/>
          </a:xfrm>
          <a:prstGeom prst="rect">
            <a:avLst/>
          </a:prstGeom>
          <a:solidFill>
            <a:srgbClr val="D4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418320" y="393192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2C2C"/>
                </a:solidFill>
              </a:rPr>
              <a:t>Controls 2023 - DA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18320" y="429768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A5A5A"/>
                </a:solidFill>
              </a:rPr>
              <a:t>Rapport: 2023-controls zonder 2025-equivalent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137160"/>
            <a:ext cx="777240" cy="7772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777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3474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CF3"/>
                </a:solidFill>
              </a:rPr>
              <a:t>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9144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Opstarten &amp; configuratie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658368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0DCF3"/>
                </a:solidFill>
              </a:rPr>
              <a:t>Bouw het bestand en stel de taal 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F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10528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0DCF3"/>
                </a:solidFill>
              </a:rPr>
              <a:t>GRC Tool v0.3  ·  Trainingsdocument  ·  Belgische Overheid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88720"/>
            <a:ext cx="3200400" cy="274320"/>
          </a:xfrm>
          <a:prstGeom prst="rect">
            <a:avLst/>
          </a:prstGeom>
          <a:solidFill>
            <a:srgbClr val="1F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207008"/>
            <a:ext cx="306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WAT TE DOEN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1508760"/>
            <a:ext cx="41148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200">
                <a:solidFill>
                  <a:srgbClr val="2C2C2C"/>
                </a:solidFill>
              </a:rPr>
              <a:t>1.  Sluit Excel volledig af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2C2C2C"/>
                </a:solidFill>
              </a:rPr>
              <a:t>2.  Open een terminal in de projectmap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2C2C2C"/>
                </a:solidFill>
              </a:rPr>
              <a:t>3.  Voer uit:  python scripts\build_grc.py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2C2C2C"/>
                </a:solidFill>
              </a:rPr>
              <a:t>4.  Open het gegenereerde GRC_Tool.xlsm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2C2C2C"/>
                </a:solidFill>
              </a:rPr>
              <a:t>5.  Klik "Inhoud inschakelen" in de gele balk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2C2C2C"/>
                </a:solidFill>
              </a:rPr>
              <a:t>6.  Ga naar het tabblad Config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2C2C2C"/>
                </a:solidFill>
              </a:rPr>
              <a:t>7.  Stel taal in op NL, FR of EN (cel D9)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2C2C2C"/>
                </a:solidFill>
              </a:rPr>
              <a:t>8.  Vul organisatienaam en dienst 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5669280"/>
            <a:ext cx="4114800" cy="685800"/>
          </a:xfrm>
          <a:prstGeom prst="rect">
            <a:avLst/>
          </a:prstGeom>
          <a:solidFill>
            <a:srgbClr val="FDF0E3"/>
          </a:solidFill>
          <a:ln w="12700">
            <a:solidFill>
              <a:srgbClr val="D46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5715000"/>
            <a:ext cx="3931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</a:rPr>
              <a:t>⚠  Na een taalwijziging: herselect bestaande classificatiewaarden in de gegevensbladen — de codes (1–5) blijven correct, maar de labels zijn taalafhankelijk.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0" y="1188720"/>
            <a:ext cx="7132320" cy="274320"/>
          </a:xfrm>
          <a:prstGeom prst="rect">
            <a:avLst/>
          </a:prstGeom>
          <a:solidFill>
            <a:srgbClr val="1F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0" y="1207008"/>
            <a:ext cx="6995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SCREENSHOT — Config-sheet</a:t>
            </a:r>
          </a:p>
        </p:txBody>
      </p:sp>
      <p:pic>
        <p:nvPicPr>
          <p:cNvPr id="18" name="Picture 17" descr="01_con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508760"/>
            <a:ext cx="3572399" cy="4846320"/>
          </a:xfrm>
          <a:prstGeom prst="rect">
            <a:avLst/>
          </a:prstGeom>
          <a:ln w="9525">
            <a:solidFill>
              <a:srgbClr val="5A5A5A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137160"/>
            <a:ext cx="777240" cy="7772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777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3474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CF3"/>
                </a:solidFill>
              </a:rPr>
              <a:t>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9144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Import &amp; Export — centraal startpunt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658368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0DCF3"/>
                </a:solidFill>
              </a:rPr>
              <a:t>Alle importknoppen staan op één tabblad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F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10528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0DCF3"/>
                </a:solidFill>
              </a:rPr>
              <a:t>GRC Tool v0.3  ·  Trainingsdocument  ·  Belgische Overheid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88720"/>
            <a:ext cx="6858000" cy="274320"/>
          </a:xfrm>
          <a:prstGeom prst="rect">
            <a:avLst/>
          </a:prstGeom>
          <a:solidFill>
            <a:srgbClr val="1F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207008"/>
            <a:ext cx="6720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SCREENSHOT — Import &amp; Export-sheet</a:t>
            </a:r>
          </a:p>
        </p:txBody>
      </p:sp>
      <p:pic>
        <p:nvPicPr>
          <p:cNvPr id="13" name="Picture 12" descr="02_import_ex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08760"/>
            <a:ext cx="3276621" cy="4846320"/>
          </a:xfrm>
          <a:prstGeom prst="rect">
            <a:avLst/>
          </a:prstGeom>
          <a:ln w="9525">
            <a:solidFill>
              <a:srgbClr val="5A5A5A"/>
            </a:solidFill>
          </a:ln>
        </p:spPr>
      </p:pic>
      <p:sp>
        <p:nvSpPr>
          <p:cNvPr id="14" name="Rectangle 13"/>
          <p:cNvSpPr/>
          <p:nvPr/>
        </p:nvSpPr>
        <p:spPr>
          <a:xfrm>
            <a:off x="7406640" y="1188720"/>
            <a:ext cx="4480560" cy="274320"/>
          </a:xfrm>
          <a:prstGeom prst="rect">
            <a:avLst/>
          </a:prstGeom>
          <a:solidFill>
            <a:srgbClr val="1F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79" y="1207008"/>
            <a:ext cx="4343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DE KNOPPEN UITGELEGD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1508760"/>
            <a:ext cx="164592" cy="4572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35240" y="150876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2C2C"/>
                </a:solidFill>
              </a:rPr>
              <a:t>Importeer Alles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1783080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A5A5A"/>
                </a:solidFill>
              </a:rPr>
              <a:t>IA → DA → Processen → Kwetsbaarheden in één keer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2258568"/>
            <a:ext cx="164592" cy="457200"/>
          </a:xfrm>
          <a:prstGeom prst="rect">
            <a:avLst/>
          </a:prstGeom>
          <a:solidFill>
            <a:srgbClr val="1F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35240" y="2258568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2C2C"/>
                </a:solidFill>
              </a:rPr>
              <a:t>Importeer Informatieassets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40" y="2532887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A5A5A"/>
                </a:solidFill>
              </a:rPr>
              <a:t>Enkel T - Information Assets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06640" y="3008376"/>
            <a:ext cx="164592" cy="457200"/>
          </a:xfrm>
          <a:prstGeom prst="rect">
            <a:avLst/>
          </a:prstGeom>
          <a:solidFill>
            <a:srgbClr val="1F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35240" y="3008376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2C2C"/>
                </a:solidFill>
              </a:rPr>
              <a:t>Importeer Afhankelijke Assets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3282696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A5A5A"/>
                </a:solidFill>
              </a:rPr>
              <a:t>Enkel T - Dependent assets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06640" y="3758183"/>
            <a:ext cx="164592" cy="457200"/>
          </a:xfrm>
          <a:prstGeom prst="rect">
            <a:avLst/>
          </a:prstGeom>
          <a:solidFill>
            <a:srgbClr val="1F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35240" y="3758183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2C2C"/>
                </a:solidFill>
              </a:rPr>
              <a:t>Importeer Processen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35240" y="4032503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A5A5A"/>
                </a:solidFill>
              </a:rPr>
              <a:t>Processen + koppelingen IA/DA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06640" y="4507992"/>
            <a:ext cx="164592" cy="457200"/>
          </a:xfrm>
          <a:prstGeom prst="rect">
            <a:avLst/>
          </a:prstGeom>
          <a:solidFill>
            <a:srgbClr val="1E8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35240" y="4507992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2C2C"/>
                </a:solidFill>
              </a:rPr>
              <a:t>Importeer Kwetsbaarheden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35240" y="4782312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A5A5A"/>
                </a:solidFill>
              </a:rPr>
              <a:t>Kwetsbaarheden + CIA + control-koppelingen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06640" y="5257800"/>
            <a:ext cx="164592" cy="457200"/>
          </a:xfrm>
          <a:prstGeom prst="rect">
            <a:avLst/>
          </a:prstGeom>
          <a:solidFill>
            <a:srgbClr val="D4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35240" y="525780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2C2C"/>
                </a:solidFill>
              </a:rPr>
              <a:t>Importeer Links DA/Kwets.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35240" y="5532120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A5A5A"/>
                </a:solidFill>
              </a:rPr>
              <a:t>Vult RARM + maakt Controls 2023 - DA rapport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06640" y="6035040"/>
            <a:ext cx="4480560" cy="411480"/>
          </a:xfrm>
          <a:prstGeom prst="rect">
            <a:avLst/>
          </a:prstGeom>
          <a:solidFill>
            <a:srgbClr val="FDF0E3"/>
          </a:solidFill>
          <a:ln w="12700">
            <a:solidFill>
              <a:srgbClr val="D46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16367" y="6080759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</a:rPr>
              <a:t>⚠  De oranje knop (Importeer Links DA/Kwets.) uitvoeren NADAT Afhankelijke Assets én Kwetsbaarheden zijn geïmporteerd.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137160"/>
            <a:ext cx="777240" cy="7772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777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3474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CF3"/>
                </a:solidFill>
              </a:rPr>
              <a:t>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9144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Afhankelijke Assets importeren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658368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0DCF3"/>
                </a:solidFill>
              </a:rPr>
              <a:t>Technische assets — de basis voor de RARM-kolommen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F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10528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0DCF3"/>
                </a:solidFill>
              </a:rPr>
              <a:t>GRC Tool v0.3  ·  Trainingsdocument  ·  Belgische Overheid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88720"/>
            <a:ext cx="6858000" cy="274320"/>
          </a:xfrm>
          <a:prstGeom prst="rect">
            <a:avLst/>
          </a:prstGeom>
          <a:solidFill>
            <a:srgbClr val="1F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207008"/>
            <a:ext cx="6720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SCREENSHOT — Dependent Assets-sheet</a:t>
            </a:r>
          </a:p>
        </p:txBody>
      </p:sp>
      <p:pic>
        <p:nvPicPr>
          <p:cNvPr id="13" name="Picture 12" descr="07_dep_ass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08760"/>
            <a:ext cx="6858000" cy="3240183"/>
          </a:xfrm>
          <a:prstGeom prst="rect">
            <a:avLst/>
          </a:prstGeom>
          <a:ln w="9525">
            <a:solidFill>
              <a:srgbClr val="5A5A5A"/>
            </a:solidFill>
          </a:ln>
        </p:spPr>
      </p:pic>
      <p:sp>
        <p:nvSpPr>
          <p:cNvPr id="14" name="Rectangle 13"/>
          <p:cNvSpPr/>
          <p:nvPr/>
        </p:nvSpPr>
        <p:spPr>
          <a:xfrm>
            <a:off x="274320" y="5257800"/>
            <a:ext cx="6858000" cy="594360"/>
          </a:xfrm>
          <a:prstGeom prst="rect">
            <a:avLst/>
          </a:prstGeom>
          <a:solidFill>
            <a:srgbClr val="D4EDDA"/>
          </a:solidFill>
          <a:ln w="12700">
            <a:solidFill>
              <a:srgbClr val="1E8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5303520"/>
            <a:ext cx="6675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</a:rPr>
              <a:t>💡  Kolom B (DAName) is de sleutel: de naam hier moet exact overeenkomen met de naam in de Access-database (T - Dependent assets.DAName). De RARM-kolommen worden op basis van deze naam gesynchroniseerd.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1188720"/>
            <a:ext cx="4480560" cy="274320"/>
          </a:xfrm>
          <a:prstGeom prst="rect">
            <a:avLst/>
          </a:prstGeom>
          <a:solidFill>
            <a:srgbClr val="1F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79" y="1207008"/>
            <a:ext cx="4343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WAT GEBEURT ER?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1508760"/>
            <a:ext cx="4480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200">
                <a:solidFill>
                  <a:srgbClr val="2C2C2C"/>
                </a:solidFill>
              </a:rPr>
              <a:t>▸  Leest T - Dependent assets uit de .accdb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2C2C"/>
                </a:solidFill>
              </a:rPr>
              <a:t>▸  Voegt elke asset toe als rij in de sheet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2C2C"/>
                </a:solidFill>
              </a:rPr>
              <a:t>▸  Koppelt automatisch aan Processen en Informatieassets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2C2C"/>
                </a:solidFill>
              </a:rPr>
              <a:t>▸  Maakt kolommen klaar in de RARM-sheet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2C2C"/>
                </a:solidFill>
              </a:rPr>
              <a:t>▸  Bestaande data wordt niet gewist — alleen aangevuld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4434840"/>
            <a:ext cx="4480560" cy="274320"/>
          </a:xfrm>
          <a:prstGeom prst="rect">
            <a:avLst/>
          </a:prstGeom>
          <a:solidFill>
            <a:srgbClr val="1F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79" y="4453127"/>
            <a:ext cx="4343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ACCESS-TABEL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06640" y="4754880"/>
            <a:ext cx="4480560" cy="1554480"/>
          </a:xfrm>
          <a:prstGeom prst="rect">
            <a:avLst/>
          </a:prstGeom>
          <a:solidFill>
            <a:srgbClr val="D0D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43800" y="4828032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B6E"/>
                </a:solidFill>
              </a:rPr>
              <a:t>Tabel:  T - Dependent assets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800" y="5175504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B6E"/>
                </a:solidFill>
              </a:rPr>
              <a:t>Veld:   ID  (intern — niet gebruikt voor LT-koppeling)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800" y="5522976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B6E"/>
                </a:solidFill>
              </a:rPr>
              <a:t>Veld:   DAName  (naam — sleutel voor RARM-mapping)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43800" y="5870448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B6E"/>
                </a:solidFill>
              </a:rPr>
              <a:t>Aantal: 18 records in de demo-database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137160"/>
            <a:ext cx="777240" cy="7772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777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3474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CF3"/>
                </a:solidFill>
              </a:rPr>
              <a:t>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9144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Kwetsbaarheden importeren — overzicht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658368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0DCF3"/>
                </a:solidFill>
              </a:rPr>
              <a:t>Twee fasen: eerst CIA-impact, dan alle remediërende controls markeren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F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10528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0DCF3"/>
                </a:solidFill>
              </a:rPr>
              <a:t>GRC Tool v0.3  ·  Trainingsdocument  ·  Belgische Overheid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88720"/>
            <a:ext cx="5486400" cy="2606040"/>
          </a:xfrm>
          <a:prstGeom prst="rect">
            <a:avLst/>
          </a:prstGeom>
          <a:solidFill>
            <a:srgbClr val="D0D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1188720"/>
            <a:ext cx="5486400" cy="411480"/>
          </a:xfrm>
          <a:prstGeom prst="rect">
            <a:avLst/>
          </a:prstGeom>
          <a:solidFill>
            <a:srgbClr val="1F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121615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FASE 1 — Kwetsbaarheden &amp; CIA-impact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664208"/>
            <a:ext cx="5166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100">
                <a:solidFill>
                  <a:srgbClr val="1F3B6E"/>
                </a:solidFill>
              </a:rPr>
              <a:t>▸  Scant bestaande kolommen (rij 2) — naam als sleutel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1F3B6E"/>
                </a:solidFill>
              </a:rPr>
              <a:t>▸  Kwetsbaarheid al aanwezig? → bijwerken op dezelfde positie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1F3B6E"/>
                </a:solidFill>
              </a:rPr>
              <a:t>▸  Nieuwe kwetsbaarheid? → nieuwe kolom achteraan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1F3B6E"/>
                </a:solidFill>
              </a:rPr>
              <a:t>▸  Rijen 3–5: CIA-impact bijwerken (✔ met kleur of grijs)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1F3B6E"/>
                </a:solidFill>
              </a:rPr>
              <a:t>▸  Rijen 6+: bestaande ✔-marks wissen (fase 2 vult opnieuw)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1F3B6E"/>
                </a:solidFill>
              </a:rPr>
              <a:t>▸  Verwijdert orphan-kolommen (niet meer in database)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1F3B6E"/>
                </a:solidFill>
              </a:rPr>
              <a:t>▸  Herberekent de samengevoegde titelrij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931920"/>
            <a:ext cx="5486400" cy="2606040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931920"/>
            <a:ext cx="5486400" cy="411480"/>
          </a:xfrm>
          <a:prstGeom prst="rect">
            <a:avLst/>
          </a:prstGeom>
          <a:solidFill>
            <a:srgbClr val="1E8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395935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FASE 2 — Controls markeren (✔)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4407408"/>
            <a:ext cx="5166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100">
                <a:solidFill>
                  <a:srgbClr val="2C2C2C"/>
                </a:solidFill>
              </a:rPr>
              <a:t>▸  Laadt volledige LT-tabel in geheugen (één DB-query)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2C2C2C"/>
                </a:solidFill>
              </a:rPr>
              <a:t>▸  Statusbalk toont actieve kwetsbaarheid: '(3/37): Phishing'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2C2C2C"/>
                </a:solidFill>
              </a:rPr>
              <a:t>▸  Per kwetsbaarheid: zoek alle gekoppelde controls op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2C2C2C"/>
                </a:solidFill>
              </a:rPr>
              <a:t>▸  Vertaalketen:  ctrlRef → refNrMap → 2023-ID → rev23to25 → 2025-ID → rij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2C2C2C"/>
                </a:solidFill>
              </a:rPr>
              <a:t>▸  Gevonden → ✔ (groen) in de juiste cel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2C2C2C"/>
                </a:solidFill>
              </a:rPr>
              <a:t>▸  Niet gevonden → geregistreerd in afwijkingsrapport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1188720"/>
            <a:ext cx="5760720" cy="274320"/>
          </a:xfrm>
          <a:prstGeom prst="rect">
            <a:avLst/>
          </a:prstGeom>
          <a:solidFill>
            <a:srgbClr val="1F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1207008"/>
            <a:ext cx="56235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VERTAALKETEN — DETAIL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1600200"/>
            <a:ext cx="5760720" cy="4937760"/>
          </a:xfrm>
          <a:prstGeom prst="rect">
            <a:avLst/>
          </a:prstGeom>
          <a:solidFill>
            <a:srgbClr val="1F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1783080"/>
            <a:ext cx="1371600" cy="384048"/>
          </a:xfrm>
          <a:prstGeom prst="rect">
            <a:avLst/>
          </a:prstGeom>
          <a:solidFill>
            <a:srgbClr val="F5C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27648" y="1819656"/>
            <a:ext cx="1325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F3B6E"/>
                </a:solidFill>
              </a:rPr>
              <a:t>ctrlRef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1837943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Getal uit LT-tabel (bv. 10)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2185416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0DCF3"/>
                </a:solidFill>
              </a:rPr>
              <a:t>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2532888"/>
            <a:ext cx="1371600" cy="384048"/>
          </a:xfrm>
          <a:prstGeom prst="rect">
            <a:avLst/>
          </a:prstGeom>
          <a:solidFill>
            <a:srgbClr val="D0D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27648" y="2569464"/>
            <a:ext cx="1325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F3B6E"/>
                </a:solidFill>
              </a:rPr>
              <a:t>refNrMap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2587752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T-CyFunEssentiel: 10 → 'ID.AM-3.1'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2935224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0DCF3"/>
                </a:solidFill>
              </a:rPr>
              <a:t>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3282696"/>
            <a:ext cx="1371600" cy="384048"/>
          </a:xfrm>
          <a:prstGeom prst="rect">
            <a:avLst/>
          </a:prstGeom>
          <a:solidFill>
            <a:srgbClr val="D0D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27648" y="3319272"/>
            <a:ext cx="1325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F3B6E"/>
                </a:solidFill>
              </a:rPr>
              <a:t>NormId23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333756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Normaliseer: 'id.am-3.1'  (lowercase, strip)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3685032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0DCF3"/>
                </a:solidFill>
              </a:rPr>
              <a:t>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4032504"/>
            <a:ext cx="1371600" cy="384048"/>
          </a:xfrm>
          <a:prstGeom prst="rect">
            <a:avLst/>
          </a:prstGeom>
          <a:solidFill>
            <a:srgbClr val="D0D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27648" y="4069080"/>
            <a:ext cx="1325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F3B6E"/>
                </a:solidFill>
              </a:rPr>
              <a:t>rev23to25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408736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CyFun Controls-sheet: → 'id.am-07.1'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03720" y="4434840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0DCF3"/>
                </a:solidFill>
              </a:rPr>
              <a:t>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60" y="4782312"/>
            <a:ext cx="1371600" cy="384048"/>
          </a:xfrm>
          <a:prstGeom prst="rect">
            <a:avLst/>
          </a:prstGeom>
          <a:solidFill>
            <a:srgbClr val="D0D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27648" y="4818888"/>
            <a:ext cx="1325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F3B6E"/>
                </a:solidFill>
              </a:rPr>
              <a:t>ctrlRowMap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4837175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Kwetsbaarheden sheet: → rij 60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03720" y="5184648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0DCF3"/>
                </a:solidFill>
              </a:rPr>
              <a:t>↓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9360" y="5532120"/>
            <a:ext cx="1371600" cy="384048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27648" y="5568696"/>
            <a:ext cx="1325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F3B6E"/>
                </a:solidFill>
              </a:rPr>
              <a:t>Resultaat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0" y="5586983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✔ in cel (rij 60, kwetsbaarheid-kolom)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137160"/>
            <a:ext cx="777240" cy="7772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777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3474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CF3"/>
                </a:solidFill>
              </a:rPr>
              <a:t>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9144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Kwetsbaarheden-sheet — na import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658368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0DCF3"/>
                </a:solidFill>
              </a:rPr>
              <a:t>Wat je ziet nadat de import klaar is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F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10528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0DCF3"/>
                </a:solidFill>
              </a:rPr>
              <a:t>GRC Tool v0.3  ·  Trainingsdocument  ·  Belgische Overheid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88720"/>
            <a:ext cx="7772400" cy="274320"/>
          </a:xfrm>
          <a:prstGeom prst="rect">
            <a:avLst/>
          </a:prstGeom>
          <a:solidFill>
            <a:srgbClr val="1F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207008"/>
            <a:ext cx="7635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SCREENSHOT — Kwetsbaarheden-sheet (rijen 1–15)</a:t>
            </a:r>
          </a:p>
        </p:txBody>
      </p:sp>
      <p:pic>
        <p:nvPicPr>
          <p:cNvPr id="13" name="Picture 12" descr="03_kwetsbaarhe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08760"/>
            <a:ext cx="7770852" cy="3200400"/>
          </a:xfrm>
          <a:prstGeom prst="rect">
            <a:avLst/>
          </a:prstGeom>
          <a:ln w="9525">
            <a:solidFill>
              <a:srgbClr val="5A5A5A"/>
            </a:solidFill>
          </a:ln>
        </p:spPr>
      </p:pic>
      <p:sp>
        <p:nvSpPr>
          <p:cNvPr id="14" name="Rectangle 13"/>
          <p:cNvSpPr/>
          <p:nvPr/>
        </p:nvSpPr>
        <p:spPr>
          <a:xfrm>
            <a:off x="274320" y="4892040"/>
            <a:ext cx="3657600" cy="274320"/>
          </a:xfrm>
          <a:prstGeom prst="rect">
            <a:avLst/>
          </a:prstGeom>
          <a:solidFill>
            <a:srgbClr val="1F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4910327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RIJSTRUCTUUR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5212080"/>
            <a:ext cx="11612880" cy="1417320"/>
          </a:xfrm>
          <a:prstGeom prst="rect">
            <a:avLst/>
          </a:prstGeom>
          <a:solidFill>
            <a:srgbClr val="D0D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5257800"/>
            <a:ext cx="685800" cy="347472"/>
          </a:xfrm>
          <a:prstGeom prst="rect">
            <a:avLst/>
          </a:prstGeom>
          <a:solidFill>
            <a:srgbClr val="1F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" y="529437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Rij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288" y="531266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Titelrij (samengevoegd over alle kolommen)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51960" y="5257800"/>
            <a:ext cx="685800" cy="34747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70248" y="529437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Rij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01768" y="531266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Naam van de kwetsbaarheid (kolomhoofd)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92440" y="5257800"/>
            <a:ext cx="685800" cy="34747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10727" y="529437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Rij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42248" y="531266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Confidentialiteit-impact  (✔ = van toepassing)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5715000"/>
            <a:ext cx="685800" cy="34747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9768" y="575157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Rij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61288" y="576986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Integriteit-impact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51960" y="5715000"/>
            <a:ext cx="685800" cy="34747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70248" y="575157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Rij 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01768" y="576986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Beschikbaarheid-impact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92440" y="5715000"/>
            <a:ext cx="685800" cy="347472"/>
          </a:xfrm>
          <a:prstGeom prst="rect">
            <a:avLst/>
          </a:prstGeom>
          <a:solidFill>
            <a:srgbClr val="1E8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10727" y="575157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Rij 6+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42248" y="576986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Één rij per CyFun 2025 control — ✔ = remediëert deze kwetsbaarheid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137160"/>
            <a:ext cx="777240" cy="7772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777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3474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CF3"/>
                </a:solidFill>
              </a:rPr>
              <a:t>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9144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CyFun Controls raadplegen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658368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0DCF3"/>
                </a:solidFill>
              </a:rPr>
              <a:t>218 controls met mapping 2023 ↔ 2025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F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10528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0DCF3"/>
                </a:solidFill>
              </a:rPr>
              <a:t>GRC Tool v0.3  ·  Trainingsdocument  ·  Belgische Overheid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88720"/>
            <a:ext cx="7772400" cy="274320"/>
          </a:xfrm>
          <a:prstGeom prst="rect">
            <a:avLst/>
          </a:prstGeom>
          <a:solidFill>
            <a:srgbClr val="1F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207008"/>
            <a:ext cx="7635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SCREENSHOT — CyFun Controls-sheet (eerste rijen)</a:t>
            </a:r>
          </a:p>
        </p:txBody>
      </p:sp>
      <p:pic>
        <p:nvPicPr>
          <p:cNvPr id="13" name="Picture 12" descr="05_cyfun_contro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08760"/>
            <a:ext cx="6553940" cy="3749039"/>
          </a:xfrm>
          <a:prstGeom prst="rect">
            <a:avLst/>
          </a:prstGeom>
          <a:ln w="9525">
            <a:solidFill>
              <a:srgbClr val="5A5A5A"/>
            </a:solidFill>
          </a:ln>
        </p:spPr>
      </p:pic>
      <p:sp>
        <p:nvSpPr>
          <p:cNvPr id="14" name="Rectangle 13"/>
          <p:cNvSpPr/>
          <p:nvPr/>
        </p:nvSpPr>
        <p:spPr>
          <a:xfrm>
            <a:off x="8092440" y="1188720"/>
            <a:ext cx="3794760" cy="274320"/>
          </a:xfrm>
          <a:prstGeom prst="rect">
            <a:avLst/>
          </a:prstGeom>
          <a:solidFill>
            <a:srgbClr val="1F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120700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KOLOMSTRUCTUUR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2440" y="1508760"/>
            <a:ext cx="3794760" cy="3749039"/>
          </a:xfrm>
          <a:prstGeom prst="rect">
            <a:avLst/>
          </a:prstGeom>
          <a:solidFill>
            <a:srgbClr val="1F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79" y="1572768"/>
            <a:ext cx="347472" cy="3200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93024" y="1600200"/>
            <a:ext cx="3291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161848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CyFun 2025 — Categorie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83879" y="1947672"/>
            <a:ext cx="347472" cy="3200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93024" y="1975104"/>
            <a:ext cx="3291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199339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CyFun 2025 — Subcategorie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83879" y="2322576"/>
            <a:ext cx="347472" cy="3200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93024" y="2350008"/>
            <a:ext cx="3291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236829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CyFun 2025 — Requirement (ID)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83879" y="2697480"/>
            <a:ext cx="347472" cy="3200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93024" y="2724912"/>
            <a:ext cx="3291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274320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CyFun 2025 — Requirement tekst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83879" y="3072384"/>
            <a:ext cx="347472" cy="3200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93024" y="3099815"/>
            <a:ext cx="3291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0" y="311810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Assurance-niveau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83879" y="3447287"/>
            <a:ext cx="347472" cy="3200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93024" y="3474720"/>
            <a:ext cx="3291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0" y="349300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CyFun 2025 Requirement (vol)  ← mapping-sleutel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83879" y="3822191"/>
            <a:ext cx="347472" cy="3200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93024" y="3849624"/>
            <a:ext cx="3291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G–L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60" y="386791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ISO 27001 / NIS2 / BIO / GDPR referenties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83879" y="4197096"/>
            <a:ext cx="347472" cy="3200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93024" y="4224527"/>
            <a:ext cx="3291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0" y="424281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CyFun 2023 Requirement  ← 2023-ID bron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83879" y="4572000"/>
            <a:ext cx="347472" cy="3200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93024" y="4599431"/>
            <a:ext cx="3291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95360" y="461772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Versie-status (2023 only / nieuw / gewijzigd)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5349240"/>
            <a:ext cx="11612880" cy="502920"/>
          </a:xfrm>
          <a:prstGeom prst="rect">
            <a:avLst/>
          </a:prstGeom>
          <a:solidFill>
            <a:srgbClr val="D4EDDA"/>
          </a:solidFill>
          <a:ln w="12700">
            <a:solidFill>
              <a:srgbClr val="1E8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84048" y="5394959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</a:rPr>
              <a:t>💡  Kolom F (2025-ID) en M (2023-ID) zijn de sleutels voor de automatische vertaling in de importmacro. Wijzig deze kolommen niet.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137160"/>
            <a:ext cx="777240" cy="7772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777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3474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CF3"/>
                </a:solidFill>
              </a:rPr>
              <a:t>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9144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RARM — Risk Assessment &amp; Remediation Matrix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658368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0DCF3"/>
                </a:solidFill>
              </a:rPr>
              <a:t>Risicomatrix per afhankelijke asset lezen en gebruiken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F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10528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0DCF3"/>
                </a:solidFill>
              </a:rPr>
              <a:t>GRC Tool v0.3  ·  Trainingsdocument  ·  Belgische Overheid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88720"/>
            <a:ext cx="7772400" cy="274320"/>
          </a:xfrm>
          <a:prstGeom prst="rect">
            <a:avLst/>
          </a:prstGeom>
          <a:solidFill>
            <a:srgbClr val="1F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207008"/>
            <a:ext cx="7635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SCREENSHOT — RARM-sheet (rijen 1–20)</a:t>
            </a:r>
          </a:p>
        </p:txBody>
      </p:sp>
      <p:pic>
        <p:nvPicPr>
          <p:cNvPr id="13" name="Picture 12" descr="04_ra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08760"/>
            <a:ext cx="7589520" cy="2900612"/>
          </a:xfrm>
          <a:prstGeom prst="rect">
            <a:avLst/>
          </a:prstGeom>
          <a:ln w="9525">
            <a:solidFill>
              <a:srgbClr val="5A5A5A"/>
            </a:solidFill>
          </a:ln>
        </p:spPr>
      </p:pic>
      <p:sp>
        <p:nvSpPr>
          <p:cNvPr id="14" name="Rectangle 13"/>
          <p:cNvSpPr/>
          <p:nvPr/>
        </p:nvSpPr>
        <p:spPr>
          <a:xfrm>
            <a:off x="8092440" y="1188720"/>
            <a:ext cx="3794760" cy="274320"/>
          </a:xfrm>
          <a:prstGeom prst="rect">
            <a:avLst/>
          </a:prstGeom>
          <a:solidFill>
            <a:srgbClr val="1F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120700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STRUCTUUR &amp; INTERACTIE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2440" y="1508760"/>
            <a:ext cx="3794760" cy="4663440"/>
          </a:xfrm>
          <a:prstGeom prst="rect">
            <a:avLst/>
          </a:prstGeom>
          <a:solidFill>
            <a:srgbClr val="D0D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572768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B6E"/>
                </a:solidFill>
              </a:rPr>
              <a:t>Rijstructuur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192024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B6E"/>
                </a:solidFill>
              </a:rPr>
              <a:t>Rij 1 — Titelrij (samengevoegd)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249424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B6E"/>
                </a:solidFill>
              </a:rPr>
              <a:t>Rij 2 — Naam afhankelijke asset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578608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B6E"/>
                </a:solidFill>
              </a:rPr>
              <a:t>Rij 3 — Gekoppelde kwetsbaarheid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290779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B6E"/>
                </a:solidFill>
              </a:rPr>
              <a:t>Rij 4+ — 218 CyFun 2025 controls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329184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B6E"/>
                </a:solidFill>
              </a:rPr>
              <a:t>Interactie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365760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B6E"/>
                </a:solidFill>
              </a:rPr>
              <a:t>Dubbelklik op een cel → ✔ aan/uit zetten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400507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B6E"/>
                </a:solidFill>
              </a:rPr>
              <a:t>Navigeren naar sheet → DA-kolommen auto-sync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4352544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B6E"/>
                </a:solidFill>
              </a:rPr>
              <a:t>Klik op DA-naam (rij 2) → VulnPicker popup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4700016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B6E"/>
                </a:solidFill>
              </a:rPr>
              <a:t>VulnPicker: selecteer kwetsbaarheid + probabiliteit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5257800"/>
            <a:ext cx="7589520" cy="502920"/>
          </a:xfrm>
          <a:prstGeom prst="rect">
            <a:avLst/>
          </a:prstGeom>
          <a:solidFill>
            <a:srgbClr val="D4EDDA"/>
          </a:solidFill>
          <a:ln w="12700">
            <a:solidFill>
              <a:srgbClr val="1E8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" y="5303520"/>
            <a:ext cx="7406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</a:rPr>
              <a:t>💡  Importeer eerst Afhankelijke Assets (stap 3), daarna Kwetsbaarheden (stap 4), en tot slot Links DA/Kwetsbaarheden (stap 7) — in deze volgorde.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137160"/>
            <a:ext cx="777240" cy="7772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777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3474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CF3"/>
                </a:solidFill>
              </a:rPr>
              <a:t>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9144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Importeer Links DA / Kwetsbaarheden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658368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0DCF3"/>
                </a:solidFill>
              </a:rPr>
              <a:t>Vult de RARM en genereert het Controls 2023 - DA rapport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F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10528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0DCF3"/>
                </a:solidFill>
              </a:rPr>
              <a:t>GRC Tool v0.3  ·  Trainingsdocument  ·  Belgische Overheid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234440"/>
            <a:ext cx="2103120" cy="777240"/>
          </a:xfrm>
          <a:prstGeom prst="rect">
            <a:avLst/>
          </a:prstGeom>
          <a:solidFill>
            <a:srgbClr val="1F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261872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Access
Database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011680"/>
            <a:ext cx="2103120" cy="822960"/>
          </a:xfrm>
          <a:prstGeom prst="rect">
            <a:avLst/>
          </a:prstGeom>
          <a:solidFill>
            <a:srgbClr val="D0D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048256"/>
            <a:ext cx="192024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F3B6E"/>
                </a:solidFill>
              </a:rPr>
              <a:t>LT - Selected
controls to DA
725 rijen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39" y="1508760"/>
            <a:ext cx="228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E86C1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06039" y="1234440"/>
            <a:ext cx="2103120" cy="7772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97479" y="1261872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DAID
koppeling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06039" y="2011680"/>
            <a:ext cx="2103120" cy="822960"/>
          </a:xfrm>
          <a:prstGeom prst="rect">
            <a:avLst/>
          </a:prstGeom>
          <a:solidFill>
            <a:srgbClr val="D0D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97479" y="2048256"/>
            <a:ext cx="192024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F3B6E"/>
                </a:solidFill>
              </a:rPr>
              <a:t>DAID → DAName
→ RARM-kolom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59" y="1508760"/>
            <a:ext cx="228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E86C1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37759" y="1234440"/>
            <a:ext cx="2103120" cy="7772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199" y="1261872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Control
vertaling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37759" y="2011680"/>
            <a:ext cx="2103120" cy="822960"/>
          </a:xfrm>
          <a:prstGeom prst="rect">
            <a:avLst/>
          </a:prstGeom>
          <a:solidFill>
            <a:srgbClr val="D0D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199" y="2048256"/>
            <a:ext cx="192024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F3B6E"/>
                </a:solidFill>
              </a:rPr>
              <a:t>ctrlRef → 2023-ID
→ 2025-ID → rij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79" y="1508760"/>
            <a:ext cx="228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E86C1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69479" y="1234440"/>
            <a:ext cx="2103120" cy="777240"/>
          </a:xfrm>
          <a:prstGeom prst="rect">
            <a:avLst/>
          </a:prstGeom>
          <a:solidFill>
            <a:srgbClr val="1E8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60919" y="1261872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RARM
bijwerken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69479" y="2011680"/>
            <a:ext cx="2103120" cy="822960"/>
          </a:xfrm>
          <a:prstGeom prst="rect">
            <a:avLst/>
          </a:prstGeom>
          <a:solidFill>
            <a:srgbClr val="D0D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60919" y="2048256"/>
            <a:ext cx="192024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F3B6E"/>
                </a:solidFill>
              </a:rPr>
              <a:t>✔ in rij × kolom
bij gevonden controls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72600" y="1508760"/>
            <a:ext cx="228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E86C1"/>
                </a:solidFill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01200" y="1234440"/>
            <a:ext cx="2103120" cy="777240"/>
          </a:xfrm>
          <a:prstGeom prst="rect">
            <a:avLst/>
          </a:prstGeom>
          <a:solidFill>
            <a:srgbClr val="D4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92640" y="1261872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Rapport
aanmaken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01200" y="2011680"/>
            <a:ext cx="2103120" cy="822960"/>
          </a:xfrm>
          <a:prstGeom prst="rect">
            <a:avLst/>
          </a:prstGeom>
          <a:solidFill>
            <a:srgbClr val="D0D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92640" y="2048256"/>
            <a:ext cx="192024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F3B6E"/>
                </a:solidFill>
              </a:rPr>
              <a:t>Controls 2023 - DA
niet-gematchte controls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063240"/>
            <a:ext cx="11612880" cy="347472"/>
          </a:xfrm>
          <a:prstGeom prst="rect">
            <a:avLst/>
          </a:prstGeom>
          <a:solidFill>
            <a:srgbClr val="1F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3090672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Resultaat na import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3410712"/>
            <a:ext cx="5623560" cy="2743200"/>
          </a:xfrm>
          <a:prstGeom prst="rect">
            <a:avLst/>
          </a:prstGeom>
          <a:solidFill>
            <a:srgbClr val="D0D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345643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B6E"/>
                </a:solidFill>
              </a:rPr>
              <a:t>RARM — bijgewerkt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" y="3840480"/>
            <a:ext cx="5303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100">
                <a:solidFill>
                  <a:srgbClr val="1F3B6E"/>
                </a:solidFill>
              </a:rPr>
              <a:t>▸  Rij 3 per DA: kwetsbaarheid ingevuld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1F3B6E"/>
                </a:solidFill>
              </a:rPr>
              <a:t>▸  Controls met ✔ in de juiste DA-kolom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1F3B6E"/>
                </a:solidFill>
              </a:rPr>
              <a:t>▸  Bestaande handmatige ✔ blijven behouden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1F3B6E"/>
                </a:solidFill>
              </a:rPr>
              <a:t>▸  Statistieken in MsgBox: X controls gekoppeld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72200" y="3410712"/>
            <a:ext cx="5715000" cy="2743200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0" y="345643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2C2C"/>
                </a:solidFill>
              </a:rPr>
              <a:t>Controls 2023 - DA — nieuw tabblad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3840480"/>
            <a:ext cx="5394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100">
                <a:solidFill>
                  <a:srgbClr val="2C2C2C"/>
                </a:solidFill>
              </a:rPr>
              <a:t>▸  Kolom A: naam afhankelijke asset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2C2C2C"/>
                </a:solidFill>
              </a:rPr>
              <a:t>▸  Kolom B: 2023 Control-ID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2C2C2C"/>
                </a:solidFill>
              </a:rPr>
              <a:t>▸  Kolom C: reden (Enkel in CyFun 2023 / Niet gevonden)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2C2C2C"/>
                </a:solidFill>
              </a:rPr>
              <a:t>▸  Wordt overschreven bij elke import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2C2C2C"/>
                </a:solidFill>
              </a:rPr>
              <a:t>▸  Enkel unieke combinaties (geen duplicaten)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6217920"/>
            <a:ext cx="11612880" cy="411480"/>
          </a:xfrm>
          <a:prstGeom prst="rect">
            <a:avLst/>
          </a:prstGeom>
          <a:solidFill>
            <a:srgbClr val="FDF0E3"/>
          </a:solidFill>
          <a:ln w="12700">
            <a:solidFill>
              <a:srgbClr val="D46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84048" y="62636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</a:rPr>
              <a:t>⚠  Dit tabblad wordt aangemaakt door de macro — het bestaat nog niet in een vers gebouwd bestand.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137160"/>
            <a:ext cx="777240" cy="7772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777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3474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CF3"/>
                </a:solidFill>
              </a:rPr>
              <a:t>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9144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Controls 2023 - DA — het afwijkingsrapport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658368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0DCF3"/>
                </a:solidFill>
              </a:rPr>
              <a:t>Welke 2023-controls hebben geen equivalent in CyFun 2025?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F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10528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0DCF3"/>
                </a:solidFill>
              </a:rPr>
              <a:t>GRC Tool v0.3  ·  Trainingsdocument  ·  Belgische Overheid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88720"/>
            <a:ext cx="5029200" cy="274320"/>
          </a:xfrm>
          <a:prstGeom prst="rect">
            <a:avLst/>
          </a:prstGeom>
          <a:solidFill>
            <a:srgbClr val="1F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207008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WAT STAAT ER IN?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508760"/>
            <a:ext cx="5029200" cy="4663440"/>
          </a:xfrm>
          <a:prstGeom prst="rect">
            <a:avLst/>
          </a:prstGeom>
          <a:solidFill>
            <a:srgbClr val="D0D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572768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B6E"/>
                </a:solidFill>
              </a:rPr>
              <a:t>Het rapport bevat drie kolommen: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011680"/>
            <a:ext cx="502920" cy="502920"/>
          </a:xfrm>
          <a:prstGeom prst="rect">
            <a:avLst/>
          </a:prstGeom>
          <a:solidFill>
            <a:srgbClr val="1F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0116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204825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B6E"/>
                </a:solidFill>
              </a:rPr>
              <a:t>Dependent Asset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340864"/>
            <a:ext cx="4114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Naam van de technische asset waarvoor de control geselecteerd was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291840"/>
            <a:ext cx="502920" cy="502920"/>
          </a:xfrm>
          <a:prstGeom prst="rect">
            <a:avLst/>
          </a:prstGeom>
          <a:solidFill>
            <a:srgbClr val="1F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2918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32841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B6E"/>
                </a:solidFill>
              </a:rPr>
              <a:t>2023 Control-ID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621024"/>
            <a:ext cx="4114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Het CyFun 2023 ID dat niet gemapped kon worden (bv. 'pr.at-3.1')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572000"/>
            <a:ext cx="502920" cy="502920"/>
          </a:xfrm>
          <a:prstGeom prst="rect">
            <a:avLst/>
          </a:prstGeom>
          <a:solidFill>
            <a:srgbClr val="1F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45720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60857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B6E"/>
                </a:solidFill>
              </a:rPr>
              <a:t>Reden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901184"/>
            <a:ext cx="4114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'Enkel in CyFun 2023' — control bestaat niet in 2025
'Niet gevonden in 2025' — onbekend formaat (bv. 'pr.ds-2.1.a')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0" y="1188720"/>
            <a:ext cx="6217920" cy="274320"/>
          </a:xfrm>
          <a:prstGeom prst="rect">
            <a:avLst/>
          </a:prstGeom>
          <a:solidFill>
            <a:srgbClr val="1F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60720" y="1207008"/>
            <a:ext cx="60807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WAT TE DOEN MET AFWIJKINGEN?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0" y="1508760"/>
            <a:ext cx="6217920" cy="2103120"/>
          </a:xfrm>
          <a:prstGeom prst="rect">
            <a:avLst/>
          </a:prstGeom>
          <a:solidFill>
            <a:srgbClr val="1F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52160" y="1554480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CB5C"/>
                </a:solidFill>
              </a:rPr>
              <a:t>Enkel in CyFun 2023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52160" y="1965960"/>
            <a:ext cx="58521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100">
                <a:solidFill>
                  <a:srgbClr val="FFFFFF"/>
                </a:solidFill>
              </a:rPr>
              <a:t>→  De control bestaat niet meer in CyFun 2025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FFFFFF"/>
                </a:solidFill>
              </a:rPr>
              <a:t>→  Controleer of er een functioneel equivalent is in de 2025-set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FFFFFF"/>
                </a:solidFill>
              </a:rPr>
              <a:t>→  Documenteer de keuze: bewust niet overgenomen, of vervangen?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FFFFFF"/>
                </a:solidFill>
              </a:rPr>
              <a:t>→  Geen actie nodig in de tool — enkel organisatorische opvolging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0" y="3749039"/>
            <a:ext cx="6217920" cy="2103120"/>
          </a:xfrm>
          <a:prstGeom prst="rect">
            <a:avLst/>
          </a:prstGeom>
          <a:solidFill>
            <a:srgbClr val="D0D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52160" y="3794760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</a:rPr>
              <a:t>Niet gevonden in 2025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52160" y="4169663"/>
            <a:ext cx="5852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100">
                <a:solidFill>
                  <a:srgbClr val="1F3B6E"/>
                </a:solidFill>
              </a:rPr>
              <a:t>→  Subvarianten met .a/.b-suffix (bv. 'pr.ds-2.1.a')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1F3B6E"/>
                </a:solidFill>
              </a:rPr>
              <a:t>→  Niet opgenomen in de officiële 2025-controleset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1F3B6E"/>
                </a:solidFill>
              </a:rPr>
              <a:t>→  Melden aan de databeheerder voor correctie in de .accdb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1F3B6E"/>
                </a:solidFill>
              </a:rPr>
              <a:t>→  Verwijder of herstel de koppeling in de Access-database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6263640"/>
            <a:ext cx="11612880" cy="475488"/>
          </a:xfrm>
          <a:prstGeom prst="rect">
            <a:avLst/>
          </a:prstGeom>
          <a:solidFill>
            <a:srgbClr val="D4EDDA"/>
          </a:solidFill>
          <a:ln w="12700">
            <a:solidFill>
              <a:srgbClr val="1E8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4048" y="6309359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</a:rPr>
              <a:t>💡  Dit rapport geeft directe input voor het updaten van de Access-database bij de overgang van CyFun 2023 naar CyFun 2025.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137160"/>
            <a:ext cx="777240" cy="7772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777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3474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CF3"/>
                </a:solidFill>
              </a:rPr>
              <a:t>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9144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Valkuilen &amp; veelgestelde vragen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658368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0DCF3"/>
                </a:solidFill>
              </a:rPr>
              <a:t>De meest voorkomende problemen en hun oplossing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F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10528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0DCF3"/>
                </a:solidFill>
              </a:rPr>
              <a:t>GRC Tool v0.3  ·  Trainingsdocument  ·  Belgische Overheid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234440"/>
            <a:ext cx="3749039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271016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Build mislukt — 'bestand vergrendeld'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581912"/>
            <a:ext cx="3749039" cy="1261872"/>
          </a:xfrm>
          <a:prstGeom prst="rect">
            <a:avLst/>
          </a:prstGeom>
          <a:solidFill>
            <a:srgbClr val="D0D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1636776"/>
            <a:ext cx="35661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Excel staat nog open. Sluit Excel volledig:
Stop-Process -Name 'EXCEL' -Force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59" y="1234440"/>
            <a:ext cx="3749039" cy="347472"/>
          </a:xfrm>
          <a:prstGeom prst="rect">
            <a:avLst/>
          </a:prstGeom>
          <a:solidFill>
            <a:srgbClr val="D4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399" y="1271016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Macro's werken niet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59" y="1581912"/>
            <a:ext cx="3749039" cy="1261872"/>
          </a:xfrm>
          <a:prstGeom prst="rect">
            <a:avLst/>
          </a:prstGeom>
          <a:solidFill>
            <a:srgbClr val="D0D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43399" y="1636776"/>
            <a:ext cx="35661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Klik 'Inhoud inschakelen' in de gele Excel-balk.
Kijk of macro's zijn ingeschakeld in Trust Center.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234440"/>
            <a:ext cx="3749039" cy="347472"/>
          </a:xfrm>
          <a:prstGeom prst="rect">
            <a:avLst/>
          </a:prstGeom>
          <a:solidFill>
            <a:srgbClr val="D4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1271016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'Tabel niet gevonden' bij import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1581912"/>
            <a:ext cx="3749039" cy="1261872"/>
          </a:xfrm>
          <a:prstGeom prst="rect">
            <a:avLst/>
          </a:prstGeom>
          <a:solidFill>
            <a:srgbClr val="D0D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1636776"/>
            <a:ext cx="35661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Verkeerde .accdb geselecteerd, of tabelnaam wijkt af.
Controleer: tabel heet exact [T - Vulnerabilities].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971800"/>
            <a:ext cx="3749039" cy="347472"/>
          </a:xfrm>
          <a:prstGeom prst="rect">
            <a:avLst/>
          </a:prstGeom>
          <a:solidFill>
            <a:srgbClr val="D4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3008376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ACE-driver fout (3706)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19272"/>
            <a:ext cx="3749039" cy="1261872"/>
          </a:xfrm>
          <a:prstGeom prst="rect">
            <a:avLst/>
          </a:prstGeom>
          <a:solidFill>
            <a:srgbClr val="D0D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3374136"/>
            <a:ext cx="35661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Installeer MS Access Database Engine 2016,
zelfde bitness (32/64-bit) als Excel.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51959" y="2971800"/>
            <a:ext cx="3749039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43399" y="3008376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RARM blijft leeg na import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51959" y="3319272"/>
            <a:ext cx="3749039" cy="1261872"/>
          </a:xfrm>
          <a:prstGeom prst="rect">
            <a:avLst/>
          </a:prstGeom>
          <a:solidFill>
            <a:srgbClr val="D0D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43399" y="3374136"/>
            <a:ext cx="35661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Importeer eerst Afhankelijke Assets — kolom B
van Dependent Assets-sheet moet gevuld zijn.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2971800"/>
            <a:ext cx="3749039" cy="347472"/>
          </a:xfrm>
          <a:prstGeom prst="rect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0" y="3008376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Labels tonen [sleutelcode]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0" y="3319272"/>
            <a:ext cx="3749039" cy="1261872"/>
          </a:xfrm>
          <a:prstGeom prst="rect">
            <a:avLst/>
          </a:prstGeom>
          <a:solidFill>
            <a:srgbClr val="D0D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21040" y="3374136"/>
            <a:ext cx="35661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Sleutel ontbreekt in _Lang-sheet.
Herbouw via python scripts\build_grc.py.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4709160"/>
            <a:ext cx="3749039" cy="347472"/>
          </a:xfrm>
          <a:prstGeom prst="rect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4745736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Classificatielabels fout na taalwijziging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5056632"/>
            <a:ext cx="3749039" cy="1261872"/>
          </a:xfrm>
          <a:prstGeom prst="rect">
            <a:avLst/>
          </a:prstGeom>
          <a:solidFill>
            <a:srgbClr val="D0D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5111496"/>
            <a:ext cx="35661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Codes (1–5) zijn correct, labels zijn taalafhankelijk.
Herselect via dropdown in de betreffende sheet.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51959" y="4709160"/>
            <a:ext cx="3749039" cy="347472"/>
          </a:xfrm>
          <a:prstGeom prst="rect">
            <a:avLst/>
          </a:prstGeom>
          <a:solidFill>
            <a:srgbClr val="1F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43399" y="4745736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Controls 2023 - DA bestaat niet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51959" y="5056632"/>
            <a:ext cx="3749039" cy="1261872"/>
          </a:xfrm>
          <a:prstGeom prst="rect">
            <a:avLst/>
          </a:prstGeom>
          <a:solidFill>
            <a:srgbClr val="D0D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43399" y="5111496"/>
            <a:ext cx="35661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Dit sheet wordt aangemaakt door de macro.
Voer eerst 'Importeer Links DA/Kwets.' uit.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9600" y="4709160"/>
            <a:ext cx="3749039" cy="347472"/>
          </a:xfrm>
          <a:prstGeom prst="rect">
            <a:avLst/>
          </a:prstGeom>
          <a:solidFill>
            <a:srgbClr val="1F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21040" y="4745736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Weinig ✔ in Kwetsbaarheden-sheet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29600" y="5056632"/>
            <a:ext cx="3749039" cy="1261872"/>
          </a:xfrm>
          <a:prstGeom prst="rect">
            <a:avLst/>
          </a:prstGeom>
          <a:solidFill>
            <a:srgbClr val="D0D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21040" y="5111496"/>
            <a:ext cx="35661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Controleer of LT.Vulnerability koppelt aan
T-Vulnerabilities.Reference (niet aan .ID).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137160"/>
            <a:ext cx="777240" cy="7772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777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3474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CF3"/>
                </a:solidFill>
              </a:rPr>
              <a:t>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9144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Correcte importvolgorde — samenvatting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658368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0DCF3"/>
                </a:solidFill>
              </a:rPr>
              <a:t>Volg deze volgorde voor een correcte vulling van alle sheets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F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10528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0DCF3"/>
                </a:solidFill>
              </a:rPr>
              <a:t>GRC Tool v0.3  ·  Trainingsdocument  ·  Belgische Overheid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234440"/>
            <a:ext cx="566928" cy="1051560"/>
          </a:xfrm>
          <a:prstGeom prst="rect">
            <a:avLst/>
          </a:prstGeom>
          <a:solidFill>
            <a:srgbClr val="1F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1234440"/>
            <a:ext cx="566928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127101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2C2C"/>
                </a:solidFill>
              </a:rPr>
              <a:t>python scripts\build_grc.py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1618488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</a:rPr>
              <a:t>Herbouw de .xlsm. Altijd uitvoeren na een wijziging aan het build-script.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2057400"/>
            <a:ext cx="5120640" cy="201168"/>
          </a:xfrm>
          <a:prstGeom prst="rect">
            <a:avLst/>
          </a:prstGeom>
          <a:solidFill>
            <a:srgbClr val="D0D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2066544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3B6E"/>
                </a:solidFill>
              </a:rPr>
              <a:t>📍 Terminal (PowerShell)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560320"/>
            <a:ext cx="566928" cy="1051560"/>
          </a:xfrm>
          <a:prstGeom prst="rect">
            <a:avLst/>
          </a:prstGeom>
          <a:solidFill>
            <a:srgbClr val="1F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2560320"/>
            <a:ext cx="566928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259689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2C2C"/>
                </a:solidFill>
              </a:rPr>
              <a:t>Open GRC_Tool.xlsm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2944368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</a:rPr>
              <a:t>Klik 'Inhoud inschakelen'. Ga naar Config en stel taal/organisatie in.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3383279"/>
            <a:ext cx="5120640" cy="201168"/>
          </a:xfrm>
          <a:prstGeom prst="rect">
            <a:avLst/>
          </a:prstGeom>
          <a:solidFill>
            <a:srgbClr val="D0D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" y="3392424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3B6E"/>
                </a:solidFill>
              </a:rPr>
              <a:t>📍 Excel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886200"/>
            <a:ext cx="566928" cy="105156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3886200"/>
            <a:ext cx="566928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392277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2C2C"/>
                </a:solidFill>
              </a:rPr>
              <a:t>Importeer Informatieassets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4270248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</a:rPr>
              <a:t>Selecteer de .accdb. Laadt T - Information Assets + koppelingen.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2688" y="4709160"/>
            <a:ext cx="5120640" cy="201168"/>
          </a:xfrm>
          <a:prstGeom prst="rect">
            <a:avLst/>
          </a:prstGeom>
          <a:solidFill>
            <a:srgbClr val="D0D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7552" y="4718304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3B6E"/>
                </a:solidFill>
              </a:rPr>
              <a:t>📍 Import &amp; Export-sheet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5212079"/>
            <a:ext cx="566928" cy="105156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5212079"/>
            <a:ext cx="566928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248655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2C2C"/>
                </a:solidFill>
              </a:rPr>
              <a:t>Importeer Afhankelijke Assets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" y="5596127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</a:rPr>
              <a:t>Vereist vóór RARM-sync. Laadt T - Dependent assets.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32688" y="6035040"/>
            <a:ext cx="5120640" cy="201168"/>
          </a:xfrm>
          <a:prstGeom prst="rect">
            <a:avLst/>
          </a:prstGeom>
          <a:solidFill>
            <a:srgbClr val="D0D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7552" y="6044183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3B6E"/>
                </a:solidFill>
              </a:rPr>
              <a:t>📍 Import &amp; Export-sheet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1234440"/>
            <a:ext cx="566928" cy="105156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63640" y="1234440"/>
            <a:ext cx="566928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22007" y="127101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2C2C"/>
                </a:solidFill>
              </a:rPr>
              <a:t>Importeer Processen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22007" y="1618488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</a:rPr>
              <a:t>Laadt T - Processes in scope + CIA-classificatie.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922007" y="2057400"/>
            <a:ext cx="5120640" cy="201168"/>
          </a:xfrm>
          <a:prstGeom prst="rect">
            <a:avLst/>
          </a:prstGeom>
          <a:solidFill>
            <a:srgbClr val="D0D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76872" y="2066544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3B6E"/>
                </a:solidFill>
              </a:rPr>
              <a:t>📍 Import &amp; Export-sheet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63640" y="2560320"/>
            <a:ext cx="566928" cy="1051560"/>
          </a:xfrm>
          <a:prstGeom prst="rect">
            <a:avLst/>
          </a:prstGeom>
          <a:solidFill>
            <a:srgbClr val="1E8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63640" y="2560320"/>
            <a:ext cx="566928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22007" y="259689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2C2C"/>
                </a:solidFill>
              </a:rPr>
              <a:t>Importeer Kwetsbaarheden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22007" y="2944368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</a:rPr>
              <a:t>Fase 1: CIA-impact. Fase 2: alle controls markeren. Genereert Afwijkingen-sheet.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922007" y="3383279"/>
            <a:ext cx="5120640" cy="201168"/>
          </a:xfrm>
          <a:prstGeom prst="rect">
            <a:avLst/>
          </a:prstGeom>
          <a:solidFill>
            <a:srgbClr val="D0D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976872" y="3392424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3B6E"/>
                </a:solidFill>
              </a:rPr>
              <a:t>📍 Import &amp; Export-sheet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63640" y="3886200"/>
            <a:ext cx="566928" cy="1051560"/>
          </a:xfrm>
          <a:prstGeom prst="rect">
            <a:avLst/>
          </a:prstGeom>
          <a:solidFill>
            <a:srgbClr val="D4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63640" y="3886200"/>
            <a:ext cx="566928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22007" y="392277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2C2C"/>
                </a:solidFill>
              </a:rPr>
              <a:t>Importeer Links DA/Kwetsbaarheden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22007" y="4270248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</a:rPr>
              <a:t>Vult RARM. Genereert Controls 2023 - DA rapport. Uitvoeren ALS LAATSTE.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922007" y="4709160"/>
            <a:ext cx="5120640" cy="201168"/>
          </a:xfrm>
          <a:prstGeom prst="rect">
            <a:avLst/>
          </a:prstGeom>
          <a:solidFill>
            <a:srgbClr val="D0D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976872" y="4718304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3B6E"/>
                </a:solidFill>
              </a:rPr>
              <a:t>📍 Import &amp; Export-sheet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6400800"/>
            <a:ext cx="11612880" cy="384048"/>
          </a:xfrm>
          <a:prstGeom prst="rect">
            <a:avLst/>
          </a:prstGeom>
          <a:solidFill>
            <a:srgbClr val="FDF0E3"/>
          </a:solidFill>
          <a:ln w="12700">
            <a:solidFill>
              <a:srgbClr val="D46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84048" y="6446520"/>
            <a:ext cx="114300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</a:rPr>
              <a:t>⚠  Stap 7 altijd uitvoeren NADAT stap 4 (Afhankelijke Assets) én stap 6 (Kwetsbaarheden) zijn afgerond.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B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880360"/>
            <a:ext cx="12188952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Klaar voor gebruik!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D0DCF3"/>
                </a:solidFill>
              </a:rPr>
              <a:t>Bedankt voor het volgen van de training.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FFFFFF"/>
                </a:solidFill>
              </a:rPr>
              <a:t>kurt.maekelberghe@gmail.com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3794760"/>
            <a:ext cx="9445752" cy="2377440"/>
          </a:xfrm>
          <a:prstGeom prst="rect">
            <a:avLst/>
          </a:prstGeom>
          <a:solidFill>
            <a:srgbClr val="15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3858768"/>
            <a:ext cx="9052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0DCF3"/>
                </a:solidFill>
              </a:rPr>
              <a:t>Snelle referentie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4261104"/>
            <a:ext cx="9052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Build-commando  :  python scripts\build_grc.py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4681728"/>
            <a:ext cx="9052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Excel sluiten   :  Stop-Process -Name 'EXCEL' -Force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5102352"/>
            <a:ext cx="9052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Importvolgorde  :  IA → DA → Processen → Kwetsbaarheden → Links 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5522976"/>
            <a:ext cx="9052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Rapporten       :  Afwijkingen-sheet  +  Controls 2023 - 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3093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DCF3"/>
                </a:solidFill>
              </a:rPr>
              <a:t>NIS2  ·  GDPR  ·  ISO 27001:2022  ·  BIO  ·  CyFun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